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6f17ebb-2d97-1ca5-8c0a-eb2c57b89c4b}">
          <p14:sldIdLst>
            <p14:sldId id="256"/>
          </p14:sldIdLst>
        </p14:section>
        <p14:section name="Problema e Solucao" id="{741c2243-e4be-d7ba-8df9-20e6abdabb55}">
          <p14:sldIdLst>
            <p14:sldId id="257"/>
            <p14:sldId id="258"/>
          </p14:sldIdLst>
        </p14:section>
        <p14:section name="Modelo e Implementacao" id="{993f9bc8-046a-1617-cad3-b8f437263d12}">
          <p14:sldIdLst>
            <p14:sldId id="259"/>
            <p14:sldId id="260"/>
            <p14:sldId id="261"/>
          </p14:sldIdLst>
        </p14:section>
        <p14:section name="Valor e Proximos Passos" id="{d151b724-48e6-8bb2-66c5-7d85f70d4572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Faturamento (R$)</c:v>
                </c:pt>
              </c:strCache>
            </c:strRef>
          </c:tx>
          <c:spPr>
            <a:solidFill>
              <a:srgbClr val="B5472B"/>
            </a:solidFill>
            <a:effectLst/>
          </c:spPr>
          <c:invertIfNegative val="0"/>
          <c:dLbls>
            <c:numFmt formatCode="R$ 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Abr/25</c:v>
                  </c:pt>
                  <c:pt idx="1">
                    <c:v>Mai/25</c:v>
                  </c:pt>
                  <c:pt idx="2">
                    <c:v>Set/25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9770</c:v>
                </c:pt>
                <c:pt idx="1">
                  <c:v>4750</c:v>
                </c:pt>
                <c:pt idx="2">
                  <c:v>72536</c:v>
                </c:pt>
              </c:numCache>
            </c:numRef>
          </c:val>
        </c:ser>
        <c:dLbls>
          <c:numFmt formatCode="R$ 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B1B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Margem (R$)</c:v>
                </c:pt>
              </c:strCache>
            </c:strRef>
          </c:tx>
          <c:spPr>
            <a:solidFill>
              <a:srgbClr val="3C5C44"/>
            </a:solidFill>
            <a:effectLst/>
          </c:spPr>
          <c:invertIfNegative val="0"/>
          <c:dLbls>
            <c:numFmt formatCode="R$ 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1B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Tote Preta</c:v>
                  </c:pt>
                  <c:pt idx="1">
                    <c:v>Tote Caramelo</c:v>
                  </c:pt>
                  <c:pt idx="2">
                    <c:v>Mini Café</c:v>
                  </c:pt>
                  <c:pt idx="3">
                    <c:v>Transversal</c:v>
                  </c:pt>
                  <c:pt idx="4">
                    <c:v>Shopper</c:v>
                  </c:pt>
                  <c:pt idx="5">
                    <c:v>Carteira</c:v>
                  </c:pt>
                  <c:pt idx="6">
                    <c:v>Cinto</c:v>
                  </c:pt>
                  <c:pt idx="7">
                    <c:v>Porta-Cartões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311.4</c:v>
                </c:pt>
                <c:pt idx="1">
                  <c:v>305.4</c:v>
                </c:pt>
                <c:pt idx="2">
                  <c:v>279.8</c:v>
                </c:pt>
                <c:pt idx="3">
                  <c:v>207.75</c:v>
                </c:pt>
                <c:pt idx="4">
                  <c:v>169.05</c:v>
                </c:pt>
                <c:pt idx="5">
                  <c:v>83.2</c:v>
                </c:pt>
                <c:pt idx="6">
                  <c:v>65.9</c:v>
                </c:pt>
                <c:pt idx="7">
                  <c:v>59.3</c:v>
                </c:pt>
              </c:numCache>
            </c:numRef>
          </c:val>
        </c:ser>
        <c:dLbls>
          <c:numFmt formatCode="R$ 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B1B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B1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 o grupo rapidamente e contextualizar: esta e a Entrega 2 da disciplina, dando continuidade ao DER e ao dicionario de dados apresentados na Entrega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Contextualizar a empresa real visitada pelo grupo. Mostrar as fotos da visita. Ligar a dor (controle manual) ao volume real de pedidos (50-70/mes) para justificar 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DER completo (notacao de Chen, feito no BrModeloWeb). Explicar o fluxo fornecedor-&gt;insumo-&gt;ficha tecnica-&gt;produto-&gt;pedido-&gt;cliente. Deixar claro que o recorte de 9 entidades foi uma decisao de escopo.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Defender as decisoes de conversao: por que tabela-por-subtipo, por que ficha_tecnica/item_pedido ja nasceram como tabelas (eram associativas no conceitual), e por que valor_total NAO e um erro de normalizacao.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script.sql do zero em um MySQL de verdade. Mostrar as constraints no CREATE TABLE (lado direito e so um exemplo no slide), carregar a massa de dados e rodar o primeiro SELECT com JOIN.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ao vivo: 8.1 (grafico ja mostra o resultado esperado), 8.2, 8.3 e, principalmente, 9.4 - mostrar que vem vazia, provando que a regra Total e Disjunta da especializacao esta sendo respeitada pelos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Margem = preco_base - custo de materia-prima (soma de quantidade_necessaria x preco_unitario na ficha tecnica). As duas bolsas tote lideram em margem absoluta; porta-cartoes tem a menor margem por peca.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item_pedido funciona como tabela de fatos (uma linha por venda) e cliente/produto/insumo/fornecedor como dimensoes - ja parece um esquema estrela simplificado, direto para uma ferramenta de 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ligando de volta ao problema do slide 2. Os numeros vem direto do script.sql rodado nesta sessao (dados fictícios, mas a estrutura e as consultas sao as mesmas que rodarao com dados reais).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apoio para a rodada de perguntas do professor e da turma, com as respostas ja preparadas.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Dark">
    <p:bg>
      <p:bgPr>
        <a:solidFill>
          <a:srgbClr val="3B2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42316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9476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 BOLSAS &amp; ACESSORIOS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 · Entrega 2</a:t>
            </a:r>
            <a:endParaRPr lang="en-US" sz="9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Dark">
    <p:bg>
      <p:bgPr>
        <a:solidFill>
          <a:srgbClr val="3B2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CORPORATIVA FINAL · ENTREGA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42316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Contrasti Bolsas &amp; Acessórios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9476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de Banco de Dados — Modelo Lógico, Implementação SQL e Resultados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4617720"/>
            <a:ext cx="0" cy="141732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457200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da Silva Ferreira Batista · 47302518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Petrucelli Domingos · 47270161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Jaime Luiz de Oliveira Neto · 47336951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Matheus Montagner · 47209470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Marques de Melo · 47213426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55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UNICID · Modelagem de Banco de Dados · Prof. Cid Rodrigues de Andrade · (data da apresentação a definir)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operação real, com controle manual e descentralizado</a:t>
            </a:r>
            <a:endParaRPr lang="en-US" sz="3000" dirty="0"/>
          </a:p>
        </p:txBody>
      </p:sp>
      <p:pic>
        <p:nvPicPr>
          <p:cNvPr id="4" name="Image 0" descr="C:\Rhema\Matheus\Modelagem-de-Dados\evidencias\06-facha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83080"/>
            <a:ext cx="4434840" cy="3246120"/>
          </a:xfrm>
          <a:prstGeom prst="rect">
            <a:avLst/>
          </a:prstGeom>
        </p:spPr>
      </p:pic>
      <p:pic>
        <p:nvPicPr>
          <p:cNvPr id="5" name="Image 1" descr="C:\Rhema\Matheus\Modelagem-de-Dados\evidencias\01-bancada-produca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086600" y="5120640"/>
            <a:ext cx="4434840" cy="12344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17830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 Bolsas e Acessórios Ltda — Rua Alpiste, 116, Jd. Eliane, São Paulo/SP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286000"/>
            <a:ext cx="6126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Indústria e comércio de bolsas de couro, operação de pequeno/médio porte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de insumos (couro, ferragens, zíperes) sem rastreabilidade de fornecedor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cada peça calculado “no olho”, sem ficha técnica padronizada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Vendas, estoque e financeiro sem integração entre si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4983480"/>
            <a:ext cx="6126480" cy="1325880"/>
          </a:xfrm>
          <a:prstGeom prst="roundRect">
            <a:avLst>
              <a:gd name="adj" fmla="val 5517"/>
            </a:avLst>
          </a:prstGeom>
          <a:solidFill>
            <a:srgbClr val="E8DCC8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5120640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50–70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</a:rPr>
              <a:t>pedidos por mês em operação normal, com picos no Dia das Mães e no Natal — volume que já justifica um banco de dados em vez de planilhas soltas.</a:t>
            </a:r>
            <a:endParaRPr lang="en-US" sz="2800" dirty="0"/>
          </a:p>
        </p:txBody>
      </p:sp>
      <p:sp>
        <p:nvSpPr>
          <p:cNvPr id="11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banco de dados relacional, do insumo ao cliente</a:t>
            </a:r>
            <a:endParaRPr lang="en-US" sz="3000" dirty="0"/>
          </a:p>
        </p:txBody>
      </p:sp>
      <p:pic>
        <p:nvPicPr>
          <p:cNvPr id="4" name="Image 0" descr="C:\Rhema\Matheus\Modelagem-de-Dados\Diagrama\Dia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1088" y="1783080"/>
            <a:ext cx="7589520" cy="340555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538980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Fornecedor </a:t>
            </a:r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 </a:t>
            </a:r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Técnica </a:t>
            </a:r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 (Bolsa/Acessório) </a:t>
            </a:r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de Pedido → Pedido → Cliente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77385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 deliberado de 9 entidades para este ciclo: ordem de produção, logística e financeiro já estão no levantamento de requisitos, para uma próxima iteração.</a:t>
            </a:r>
            <a:endParaRPr lang="en-US" sz="1100" dirty="0"/>
          </a:p>
        </p:txBody>
      </p:sp>
      <p:sp>
        <p:nvSpPr>
          <p:cNvPr id="8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DO MODELO LÓGICO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entidades viraram 9 tabelas — nenhuma associativa extra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6858000" cy="420624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Chave primária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Chave(s) estrangeira(s)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fornecedor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id_fornecedor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id_insumo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fornecedor_id → fornecedor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id_produto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bolsa / acessorio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id_produto (= PK de produto)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id_produto → produto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ficha_tecnica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(produto_id, insumo_id)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produto_id → produto; insumo_id → insumo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id_cliente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id_pedido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cliente_id → cliente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item_pedido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id_item_pedido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pedido_id → pedido; produto_id → produto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91640"/>
            <a:ext cx="3749040" cy="2148840"/>
          </a:xfrm>
          <a:prstGeom prst="roundRect">
            <a:avLst>
              <a:gd name="adj" fmla="val 3404"/>
            </a:avLst>
          </a:prstGeom>
          <a:solidFill>
            <a:srgbClr val="E8DCC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01000" y="18745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pedido.valor_total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</a:rPr>
              <a:t>é uma denormalização controlada, não um erro de 3FN: mantida por UPDATE explícito e vigiada por uma consulta de auditoria (9.1).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772400" y="4023360"/>
            <a:ext cx="3749040" cy="1920240"/>
          </a:xfrm>
          <a:prstGeom prst="roundRect">
            <a:avLst>
              <a:gd name="adj" fmla="val 3810"/>
            </a:avLst>
          </a:prstGeom>
          <a:solidFill>
            <a:srgbClr val="EDEFE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01000" y="4206240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Especialização TD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</a:rPr>
              <a:t>bolsa / acessório é “tabela por subtipo” — e a consulta de auditoria 9.4 confirma, nos dados de teste, que nenhum produto fica órfão ou duplicado.</a:t>
            </a:r>
            <a:endParaRPr lang="en-US" sz="1400" dirty="0"/>
          </a:p>
        </p:txBody>
      </p:sp>
      <p:sp>
        <p:nvSpPr>
          <p:cNvPr id="10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AO VIVO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script rodando do zero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554480" cy="502920"/>
          </a:xfrm>
          <a:prstGeom prst="roundRect">
            <a:avLst>
              <a:gd name="adj" fmla="val 49091"/>
            </a:avLst>
          </a:prstGeom>
          <a:solidFill>
            <a:srgbClr val="B547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VIVO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02920" cy="502920"/>
          </a:xfrm>
          <a:prstGeom prst="ellipse">
            <a:avLst/>
          </a:prstGeom>
          <a:solidFill>
            <a:srgbClr val="3B241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5603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CREATE DATABASE + CREATE TABLE
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9 tabelas, com PK, FK, CHECK e ON DELETE CASCADE — banco vazio ao vivo, sem erro.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3B241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204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Massa de dados carregando
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77 pedidos / 128 itens de pedido / 9 tabelas populadas em segundos.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26280"/>
            <a:ext cx="502920" cy="502920"/>
          </a:xfrm>
          <a:prstGeom prst="ellipse">
            <a:avLst/>
          </a:prstGeom>
          <a:solidFill>
            <a:srgbClr val="3B241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4805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SELECT com JOIN
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Ficha técnica legível: produto + insumo + fornecedor, juntando 3 tabelas.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35040" y="1783080"/>
            <a:ext cx="5486400" cy="4526280"/>
          </a:xfrm>
          <a:prstGeom prst="roundRect">
            <a:avLst>
              <a:gd name="adj" fmla="val 1212"/>
            </a:avLst>
          </a:prstGeom>
          <a:solidFill>
            <a:srgbClr val="2B1B1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201168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produto (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id_produto    INT AUTO_INCREMENT PRIMARY KEY,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nome          VARCHAR(120) NOT NULL,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preco_base    DECIMAL(10,2) NOT NULL,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categoria     VARCHAR(50),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estoque_total INT NOT NULL DEFAULT 0,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tipo_produto  VARCHAR(10) NOT NULL,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CONSTRAINT ck_produto_preco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 (preco_base &gt; 0),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CONSTRAINT ck_produto_tipo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 (tipo_produto IN ('BOLSA','ACESSORIO'))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D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50" dirty="0"/>
          </a:p>
        </p:txBody>
      </p:sp>
      <p:sp>
        <p:nvSpPr>
          <p:cNvPr id="18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Faturamento por mês — abril a setembro/2025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83080"/>
          <a:ext cx="60350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9893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foi gerado com volume próximo do real (62 pedidos) — abril/maio têm só 15 pedidos de demonstração da estrutura.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1783080"/>
            <a:ext cx="45720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 Faturamento por mês (gráfico ao lado)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Curva ABC de produtos mais vendidos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 Margem por produto, calculada a partir da ficha técnica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 Ranking de clientes por valor comprado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 Auditoria: pedido.valor_total bate com a soma dos itens?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 Auditoria: todo produto é bolsa OU acessório — nunca os dois</a:t>
            </a:r>
            <a:endParaRPr lang="en-US" sz="1350" dirty="0"/>
          </a:p>
        </p:txBody>
      </p:sp>
      <p:sp>
        <p:nvSpPr>
          <p:cNvPr id="8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ESTÁ A MARGEM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Margem estimada por produto, direto da ficha técnica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83080"/>
          <a:ext cx="10881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E 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dado operacional a decisão de gestão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11480" cy="411480"/>
          </a:xfrm>
          <a:prstGeom prst="ellipse">
            <a:avLst/>
          </a:prstGeom>
          <a:solidFill>
            <a:srgbClr val="B547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34440" y="1709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Faturamento mensal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SUM(valor_total) por mês, faturado/expedido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411480" cy="411480"/>
          </a:xfrm>
          <a:prstGeom prst="ellipse">
            <a:avLst/>
          </a:prstGeom>
          <a:solidFill>
            <a:srgbClr val="3C5C4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34440" y="280720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Margem média por categoria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preco_base − custo de matéria-prima, agrupado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2D5A7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34440" y="390448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Dependência por fornecedor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% do custo concentrado em cada fornecedor_id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5074920"/>
            <a:ext cx="411480" cy="4114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34440" y="500176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Previsão de demanda sazonal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histórico de item_pedido.quantidade por mês → compra antecipada de insumo</a:t>
            </a:r>
            <a:endParaRPr lang="en-US" sz="1600" dirty="0"/>
          </a:p>
        </p:txBody>
      </p:sp>
      <p:sp>
        <p:nvSpPr>
          <p:cNvPr id="13" name="Text 1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61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muda na prática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204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banco só, sem planilha solta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21031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rastreados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35204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período de teste (abr–set/25)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321040" y="21031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R$ 87 mil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35204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somado automaticamente, sem conferir manualmente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4846320"/>
            <a:ext cx="10515600" cy="0"/>
          </a:xfrm>
          <a:prstGeom prst="line">
            <a:avLst/>
          </a:prstGeom>
          <a:noFill/>
          <a:ln w="9525">
            <a:solidFill>
              <a:srgbClr val="6D61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07492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de insumo por fornecedor → compra baseada em dado, não em memória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real por peça (ficha técnica) → margem de verdade, não estimativa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pedidos por cliente → saber quem são os clientes mais importantes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6858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reduzimos de 21 para 9 entidades entre a Entrega 1 e agora? — decisão de escopo, documentada no relatório técnico.</a:t>
            </a:r>
            <a:endParaRPr lang="en-US" sz="1500" dirty="0"/>
          </a:p>
          <a:p>
            <a:pPr marL="342900" indent="-3429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Cadê ordem de produção, financeiro, expedição? — estão no levantamento de requisitos; fora do recorte modelado nesta entrega.</a:t>
            </a:r>
            <a:endParaRPr lang="en-US" sz="1500" dirty="0"/>
          </a:p>
          <a:p>
            <a:pPr marL="342900" indent="-3429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massa de dados é real? — Não: é fictícia por exigência da própria atividade (privacidade dos dados da empresa).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394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trasti">
  <a:themeElements>
    <a:clrScheme name="Contrasti">
      <a:dk1>
        <a:srgbClr val="2B1B12"/>
      </a:dk1>
      <a:lt1>
        <a:srgbClr val="FFFFFF"/>
      </a:lt1>
      <a:dk2>
        <a:srgbClr val="3B2415"/>
      </a:dk2>
      <a:lt2>
        <a:srgbClr val="E8DCC8"/>
      </a:lt2>
      <a:accent1>
        <a:srgbClr val="B5472B"/>
      </a:accent1>
      <a:accent2>
        <a:srgbClr val="C89B3C"/>
      </a:accent2>
      <a:accent3>
        <a:srgbClr val="2D5A73"/>
      </a:accent3>
      <a:accent4>
        <a:srgbClr val="3C5C44"/>
      </a:accent4>
      <a:accent5>
        <a:srgbClr val="6D6155"/>
      </a:accent5>
      <a:accent6>
        <a:srgbClr val="9C2B1F"/>
      </a:accent6>
      <a:hlink>
        <a:srgbClr val="B5472B"/>
      </a:hlink>
      <a:folHlink>
        <a:srgbClr val="8A3620"/>
      </a:folHlink>
    </a:clrScheme>
    <a:fontScheme name="Contrast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UNICID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Contrasti Bolsas e Acessorios - Apresentacao Corporativa</dc:title>
  <dc:subject>PptxGenJS Presentation</dc:subject>
  <dc:creator>Grupo Contrasti</dc:creator>
  <cp:lastModifiedBy>Grupo Contrasti</cp:lastModifiedBy>
  <cp:revision>1</cp:revision>
  <dcterms:created xsi:type="dcterms:W3CDTF">2026-10-13T20:28:15Z</dcterms:created>
  <dcterms:modified xsi:type="dcterms:W3CDTF">2026-10-13T20:28:15Z</dcterms:modified>
</cp:coreProperties>
</file>