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a737b780-7757-47bc-0e76-b255e703d270}">
          <p14:sldIdLst>
            <p14:sldId id="256"/>
          </p14:sldIdLst>
        </p14:section>
        <p14:section name="Problema e Solucao" id="{a3b882bf-e73c-48b8-97c6-c3bb44b9a042}">
          <p14:sldIdLst>
            <p14:sldId id="257"/>
            <p14:sldId id="258"/>
            <p14:sldId id="259"/>
          </p14:sldIdLst>
        </p14:section>
        <p14:section name="Modelo e Implementacao" id="{ab5ac4e4-20f8-6a9d-9987-a5c4742be35d}">
          <p14:sldIdLst>
            <p14:sldId id="260"/>
            <p14:sldId id="261"/>
            <p14:sldId id="262"/>
            <p14:sldId id="263"/>
          </p14:sldIdLst>
        </p14:section>
        <p14:section name="Valor e Proximos Passos" id="{e67eb191-febc-616f-aa5a-9f760fb030f6}">
          <p14:sldIdLst>
            <p14:sldId id="264"/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Faturamento (R$)</c:v>
                </c:pt>
              </c:strCache>
            </c:strRef>
          </c:tx>
          <c:spPr>
            <a:solidFill>
              <a:srgbClr val="B5472B"/>
            </a:solidFill>
            <a:effectLst/>
          </c:spPr>
          <c:invertIfNegative val="0"/>
          <c:dLbls>
            <c:numFmt formatCode="R$ 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B1B1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Abr/25</c:v>
                  </c:pt>
                  <c:pt idx="1">
                    <c:v>Mai/25</c:v>
                  </c:pt>
                  <c:pt idx="2">
                    <c:v>Set/25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9770</c:v>
                </c:pt>
                <c:pt idx="1">
                  <c:v>4750</c:v>
                </c:pt>
                <c:pt idx="2">
                  <c:v>72536</c:v>
                </c:pt>
              </c:numCache>
            </c:numRef>
          </c:val>
        </c:ser>
        <c:dLbls>
          <c:numFmt formatCode="R$ 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B1B1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D61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Margem (R$)</c:v>
                </c:pt>
              </c:strCache>
            </c:strRef>
          </c:tx>
          <c:spPr>
            <a:solidFill>
              <a:srgbClr val="3C5C44"/>
            </a:solidFill>
            <a:effectLst/>
          </c:spPr>
          <c:invertIfNegative val="0"/>
          <c:dLbls>
            <c:numFmt formatCode="R$ 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B1B1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Tote Preta</c:v>
                  </c:pt>
                  <c:pt idx="1">
                    <c:v>Tote Caramelo</c:v>
                  </c:pt>
                  <c:pt idx="2">
                    <c:v>Mini Café</c:v>
                  </c:pt>
                  <c:pt idx="3">
                    <c:v>Transversal</c:v>
                  </c:pt>
                  <c:pt idx="4">
                    <c:v>Shopper</c:v>
                  </c:pt>
                  <c:pt idx="5">
                    <c:v>Carteira</c:v>
                  </c:pt>
                  <c:pt idx="6">
                    <c:v>Cinto</c:v>
                  </c:pt>
                  <c:pt idx="7">
                    <c:v>Porta-Cartões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311.4</c:v>
                </c:pt>
                <c:pt idx="1">
                  <c:v>305.4</c:v>
                </c:pt>
                <c:pt idx="2">
                  <c:v>279.8</c:v>
                </c:pt>
                <c:pt idx="3">
                  <c:v>207.75</c:v>
                </c:pt>
                <c:pt idx="4">
                  <c:v>169.05</c:v>
                </c:pt>
                <c:pt idx="5">
                  <c:v>83.2</c:v>
                </c:pt>
                <c:pt idx="6">
                  <c:v>65.9</c:v>
                </c:pt>
                <c:pt idx="7">
                  <c:v>59.3</c:v>
                </c:pt>
              </c:numCache>
            </c:numRef>
          </c:val>
        </c:ser>
        <c:dLbls>
          <c:numFmt formatCode="R$ #,##0" sourceLinked="0"/>
          <c:txPr>
            <a:bodyPr/>
            <a:lstStyle/>
            <a:p>
              <a:pPr>
                <a:defRPr b="0" i="0" strike="noStrike" sz="1100" u="none">
                  <a:solidFill>
                    <a:srgbClr val="2B1B1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B1B1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 Apresentar o grupo rapidamente e contextualizar: esta e a Entrega 2 da disciplina, dando continuidade ao DER e ao dicionario de dados apresentados na Entrega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Contextualizar a empresa real visitada pelo grupo. Mostrar as fotos da visita. Ligar a dor (controle manual) ao volume real de pedidos (50-70/mes) para justificar o projeto.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o DER completo (17 entidades, notacao de Chen). Explicar o fluxo macro Compras-&gt;Producao-&gt;Vendas-&gt;Financeiro. Mencionar que esta e a versao corrigida apos a avaliacao formal do professor (issue #1).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central da defesa: mostrar lado a lado o que o professor apontou na issue #1 e a correcao aplicada. Se tiver tempo, rodar ao vivo a consulta 5.4 do script.sql para mostrar o resultado da ultima linha (dois fornecedores).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Defender as decisoes de conversao: ficha_tecnica tem chave propria (nao mais FK composta); insumo nao tem mais FK direta para fornecedor, porque lote_insumo registra a origem de cada recebimento.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8 tabelas que respondem diretamente a avaliacao do professor: ordem de producao com suas etapas e artesaos/faccoes (producao), e contas a receber/pagar (financeiro) - nenhuma existia na versao anterior.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Rodar script.sql do zero em um MySQL de verdade. Mostrar as constraints no CREATE TABLE (lado direito e so um exemplo no slide), carregar a massa de dados e rodar o primeiro SELECT com JOIN.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Rodar ao vivo: 8.1 (grafico ja mostra o resultado esperado), 8.2, 8.3 e, principalmente, 9.4 - mostrar que vem vazia, provando que a regra Total e Disjunta da especializacao esta sendo respeitada pelos dados.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Margem = preco_base - custo de materia-prima (soma de quantidade_necessaria x preco_unitario na ficha tecnica). As duas bolsas tote lideram em margem absoluta; porta-cartoes tem a menor margem por peca.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item_pedido funciona como tabela de fatos (uma linha por venda) e cliente/produto/insumo/fornecedor como dimensoes - ja parece um esquema estrela simplificado, direto para uma ferramenta de BI.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Fechamento ligando de volta ao problema do slide 2. Os numeros vem direto do script.sql rodado nesta sessao (dados fictícios, mas a estrutura e as consultas sao as mesmas que rodarao com dados reais).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apoio para a rodada de perguntas do professor e da turma, com as respostas ja preparadas.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Dark">
    <p:bg>
      <p:bgPr>
        <a:solidFill>
          <a:srgbClr val="3B24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1965960"/>
            <a:ext cx="105156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b="1" spc="2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2423160"/>
            <a:ext cx="1051560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822960" y="3794760"/>
            <a:ext cx="10515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5" name="Text 0"/>
          <p:cNvSpPr txBox="1"/>
          <p:nvPr/>
        </p:nvSpPr>
        <p:spPr>
          <a:xfrm>
            <a:off x="82296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CONTRASTI BOLSAS &amp; ACESSORIOS</a:t>
            </a:r>
            <a:endParaRPr lang="en-US" sz="11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b="1" spc="15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Contrasti · Entrega 2</a:t>
            </a:r>
            <a:endParaRPr lang="en-US" sz="9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9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D615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Dark">
    <p:bg>
      <p:bgPr>
        <a:solidFill>
          <a:srgbClr val="3B24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D615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1965960"/>
            <a:ext cx="1051560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CORPORATIVA FINAL · ENTREGA 2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2423160"/>
            <a:ext cx="10515600" cy="13716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Contrasti Bolsas &amp; Acessórios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822960" y="3794760"/>
            <a:ext cx="10515600" cy="6400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Modelagem de Banco de Dados — Modelo Lógico, Implementação SQL e Resultados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22960" y="4617720"/>
            <a:ext cx="0" cy="1417320"/>
          </a:xfrm>
          <a:prstGeom prst="line">
            <a:avLst/>
          </a:prstGeom>
          <a:noFill/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1560" y="4572000"/>
            <a:ext cx="5486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
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Guilherme da Silva Ferreira Batista · 47302518
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Guilherme Petrucelli Domingos · 47270161
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Jaime Luiz de Oliveira Neto · 47336951
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Matheus Montagner · 47209470
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Vinicius Marques de Melo · 47213426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6355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UNICID · Modelagem de Banco de Dados · Prof. Cid Rodrigues de Andrade · (data da apresentação a definir)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DESAFIO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operação real, com controle manual e descentralizado</a:t>
            </a:r>
            <a:endParaRPr lang="en-US" sz="3000" dirty="0"/>
          </a:p>
        </p:txBody>
      </p:sp>
      <p:pic>
        <p:nvPicPr>
          <p:cNvPr id="4" name="Image 0" descr="C:\Rhema\Matheus\Modelagem-de-Dados\evidencias\06-fachad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0" y="1783080"/>
            <a:ext cx="4434840" cy="3246120"/>
          </a:xfrm>
          <a:prstGeom prst="rect">
            <a:avLst/>
          </a:prstGeom>
        </p:spPr>
      </p:pic>
      <p:pic>
        <p:nvPicPr>
          <p:cNvPr id="5" name="Image 1" descr="C:\Rhema\Matheus\Modelagem-de-Dados\evidencias\01-bancada-producao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086600" y="5120640"/>
            <a:ext cx="4434840" cy="123444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40080" y="178308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Contrasti Bolsas e Acessórios Ltda — Rua Alpiste, 116, Jd. Eliane, São Paulo/SP</a:t>
            </a:r>
            <a:endParaRPr lang="en-US" sz="1300" dirty="0"/>
          </a:p>
        </p:txBody>
      </p:sp>
      <p:sp>
        <p:nvSpPr>
          <p:cNvPr id="7" name="Text 3"/>
          <p:cNvSpPr txBox="1"/>
          <p:nvPr/>
        </p:nvSpPr>
        <p:spPr>
          <a:xfrm>
            <a:off x="640080" y="2286000"/>
            <a:ext cx="6126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Indústria e comércio de bolsas e acessórios de couro, produção própria + múltiplos canais de venda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Estoque de insumos (couro, ferragens, zíperes) sem rastreabilidade por fornecedor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de cada peça calculado “no olho”, sem ficha técnica padronizada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Vendas, produção e financeiro sem integração entre si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640080" y="4983480"/>
            <a:ext cx="6126480" cy="1325880"/>
          </a:xfrm>
          <a:prstGeom prst="roundRect">
            <a:avLst>
              <a:gd name="adj" fmla="val 5517"/>
            </a:avLst>
          </a:prstGeom>
          <a:solidFill>
            <a:srgbClr val="E8DCC8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5120640"/>
            <a:ext cx="5577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50–70 </a:t>
            </a:r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</a:rPr>
              <a:t>pedidos por mês em operação normal, com picos no Dia das Mães e no Natal — volume que já justifica um banco de dados em vez de planilhas soltas.</a:t>
            </a:r>
            <a:endParaRPr lang="en-US" sz="2800" dirty="0"/>
          </a:p>
        </p:txBody>
      </p:sp>
      <p:sp>
        <p:nvSpPr>
          <p:cNvPr id="11" name="Text 1"/>
          <p:cNvSpPr/>
          <p:nvPr>
            <p:ph idx="103" type="body" hasCustomPrompt="1"/>
          </p:nvPr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D615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SOLUÇÃO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banco de dados relacional, do fornecedor ao cliente</a:t>
            </a:r>
            <a:endParaRPr lang="en-US" sz="3000" dirty="0"/>
          </a:p>
        </p:txBody>
      </p:sp>
      <p:pic>
        <p:nvPicPr>
          <p:cNvPr id="4" name="Image 0" descr="C:\Rhema\Matheus\Modelagem-de-Dados\Diagrama\Diagram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01088" y="1691640"/>
            <a:ext cx="7589520" cy="534679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722131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Compras </a:t>
            </a:r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algn="ctr" indent="0" marL="0">
              <a:buNone/>
            </a:pPr>
            <a:r>
              <a:rPr lang="en-US" sz="1300" b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Produção </a:t>
            </a:r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Vendas </a:t>
            </a:r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algn="ctr" indent="0" marL="0">
              <a:buNone/>
            </a:pPr>
            <a:r>
              <a:rPr lang="en-US" sz="13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Financeiro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758707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entidades, 16 relacionamentos — versão corrigida após a avaliação do professor: cardinalidade mínima e máxima em toda relação, nenhuma FK no diagrama, e ordem de produção/financeiro agora modelados.</a:t>
            </a:r>
            <a:endParaRPr lang="en-US" sz="1100" dirty="0"/>
          </a:p>
        </p:txBody>
      </p:sp>
      <p:sp>
        <p:nvSpPr>
          <p:cNvPr id="8" name="Text 1"/>
          <p:cNvSpPr/>
          <p:nvPr>
            <p:ph idx="103" type="body" hasCustomPrompt="1"/>
          </p:nvPr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D615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CORREÇÃO APLICADA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o professor apontou — e como foi corrigido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881360" cy="3200400"/>
        </p:xfrm>
        <a:graphic>
          <a:graphicData uri="http://schemas.openxmlformats.org/drawingml/2006/table">
            <a:tbl>
              <a:tblPr/>
              <a:tblGrid>
                <a:gridCol w="5120640"/>
                <a:gridCol w="5760720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Apontação do professor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24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Correção aplicada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2415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 só mostrava cardinalidade máxima (1/N)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Todas as 16 relações mostram mínimo,máximo nas duas pontas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FK aparecia dentro das entidades (inclusive como PK composta em FICHA_TÉCNICA)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Nenhuma FK no DER; ficha_tecnica ganhou chave própria (id_ficha)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ORDEM_PRODUÇÃO ausente, apesar de já estar nos requisitos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Entidade adicionada, com ETAPA_PRODUÇÃO, ARTESÃO_FACÇÃO e EXECUÇÃO_ETAPA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FORNECEDOR–INSUMO (1,1) contradizia a rastreabilidade por lote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LOTE_INSUMO: um insumo pode vir de vários fornecedores ao longo do tempo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516636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E8DCC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68680" y="530352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Evidência nos dados: </a:t>
            </a:r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</a:rPr>
              <a:t>a Bolsa Tote Caramelo usa couro recebido de dois fornecedores diferentes (Curtume Vaqueta Ouro e Curtume Linhares Couros) — exatamente o cenário que a FK direta antiga não conseguia representar.</a:t>
            </a:r>
            <a:endParaRPr lang="en-US" sz="1300" dirty="0"/>
          </a:p>
        </p:txBody>
      </p:sp>
      <p:sp>
        <p:nvSpPr>
          <p:cNvPr id="8" name="Text 1"/>
          <p:cNvSpPr/>
          <p:nvPr>
            <p:ph idx="103" type="body" hasCustomPrompt="1"/>
          </p:nvPr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D615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DEFESA DO MODELO LÓGICO (1/2)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Núcleo de compras e vendas — 9 tabelas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881360" cy="4480560"/>
        </p:xfrm>
        <a:graphic>
          <a:graphicData uri="http://schemas.openxmlformats.org/drawingml/2006/table">
            <a:tbl>
              <a:tblPr/>
              <a:tblGrid>
                <a:gridCol w="2743200"/>
                <a:gridCol w="3566160"/>
                <a:gridCol w="457200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Tabela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24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Chave primária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24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Chave(s) estrangeira(s)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241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fornecedor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id_fornecedor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insumo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id_insumo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(sem FK direta; ver lote_insumo)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lote_insumo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id_lote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insumo_id → insumo; fornecedor_id → fornecedor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id_produto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bolsa / acessorio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id_produto (= PK de produto)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id_produto → produto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ficha_tecnica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id_ficha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produto_id → produto; insumo_id → insumo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id_cliente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pedido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id_pedido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cliente_id → cliente; vendedor_id → vendedor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item_pedido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id_item_pedido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pedido_id → pedido; produto_id → produto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1"/>
          <p:cNvSpPr/>
          <p:nvPr>
            <p:ph idx="103" type="body" hasCustomPrompt="1"/>
          </p:nvPr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D615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DEFESA DO MODELO LÓGICO (2/2)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Produção e financeiro — 8 tabelas novas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881360" cy="397764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539496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Tabela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24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Chave primária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24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Chave(s) estrangeira(s)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2415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ordem_producao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id_op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produto_id → produto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etapa_producao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id_etapa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(tabela de domínio)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artesao_faccao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id_artesao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execucao_etapa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id_execucao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op_id → ordem_producao; etapa_id → etapa_producao; artesao_id → artesao_faccao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vendedor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id_vendedor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contas_receber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id_titulo_receber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pedido_id → pedido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contas_pagar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id_titulo_pagar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lote_id → lote_insumo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5760720"/>
            <a:ext cx="10881360" cy="594360"/>
          </a:xfrm>
          <a:prstGeom prst="roundRect">
            <a:avLst>
              <a:gd name="adj" fmla="val 12308"/>
            </a:avLst>
          </a:prstGeom>
          <a:solidFill>
            <a:srgbClr val="E8DCC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68680" y="58521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pedido.vl_total 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e </a:t>
            </a:r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insumo.qt_estoque_atual 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são denormalizações controladas, vigiadas por UPDATE explícito e auditoria (9.1) — não são erro de 3FN.</a:t>
            </a:r>
            <a:endParaRPr lang="en-US" sz="1200" dirty="0"/>
          </a:p>
        </p:txBody>
      </p:sp>
      <p:sp>
        <p:nvSpPr>
          <p:cNvPr id="8" name="Text 1"/>
          <p:cNvSpPr/>
          <p:nvPr>
            <p:ph idx="103" type="body" hasCustomPrompt="1"/>
          </p:nvPr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D615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DEMONSTRAÇÃO AO VIVO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script rodando do zero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554480" cy="502920"/>
          </a:xfrm>
          <a:prstGeom prst="roundRect">
            <a:avLst>
              <a:gd name="adj" fmla="val 49091"/>
            </a:avLst>
          </a:prstGeom>
          <a:solidFill>
            <a:srgbClr val="B5472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7830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VIVO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606040"/>
            <a:ext cx="502920" cy="502920"/>
          </a:xfrm>
          <a:prstGeom prst="ellipse">
            <a:avLst/>
          </a:prstGeom>
          <a:solidFill>
            <a:srgbClr val="3B241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56032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CREATE DATABASE + CREATE TABLE
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17 tabelas, com PK, FK, CHECK e ON DELETE CASCADE — banco vazio ao vivo, sem erro.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566160"/>
            <a:ext cx="502920" cy="502920"/>
          </a:xfrm>
          <a:prstGeom prst="ellipse">
            <a:avLst/>
          </a:prstGeom>
          <a:solidFill>
            <a:srgbClr val="3B241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3566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52044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Massa de dados carregando
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77 pedidos / 128 itens / 56 execuções de etapa / 17 tabelas populadas em segundos.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4526280"/>
            <a:ext cx="502920" cy="502920"/>
          </a:xfrm>
          <a:prstGeom prst="ellipse">
            <a:avLst/>
          </a:prstGeom>
          <a:solidFill>
            <a:srgbClr val="3B241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4526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448056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SELECT com JOIN
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Rastreabilidade: produto + insumo + lote + fornecedor, juntando 4 tabelas.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035040" y="1783080"/>
            <a:ext cx="5486400" cy="4526280"/>
          </a:xfrm>
          <a:prstGeom prst="roundRect">
            <a:avLst>
              <a:gd name="adj" fmla="val 1212"/>
            </a:avLst>
          </a:prstGeom>
          <a:solidFill>
            <a:srgbClr val="2B1B1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309360" y="2011680"/>
            <a:ext cx="49377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DC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lote_insumo (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DC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id_lote       INT UNSIGNED AUTO_INCREMENT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DC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PRIMARY KEY,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DC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insumo_id     INT UNSIGNED NOT NULL,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DC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fornecedor_id INT UNSIGNED NOT NULL,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DC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nr_lote       VARCHAR(30) NOT NULL,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DC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qt_recebida   DECIMAL(10,3) NOT NULL,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DC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vl_preco_pago DECIMAL(10,2) NOT NULL,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DC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CONSTRAINT fk_lote_insumo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DC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FOREIGN KEY (insumo_id)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DC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REFERENCES insumo(id_insumo),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DC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CONSTRAINT fk_lote_fornecedor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DC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FOREIGN KEY (fornecedor_id)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DC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REFERENCES fornecedor(id_fornecedor)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DC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50" dirty="0"/>
          </a:p>
        </p:txBody>
      </p:sp>
      <p:sp>
        <p:nvSpPr>
          <p:cNvPr id="18" name="Text 1"/>
          <p:cNvSpPr/>
          <p:nvPr>
            <p:ph idx="103" type="body" hasCustomPrompt="1"/>
          </p:nvPr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D615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Faturamento por mês — abril a setembro/2025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783080"/>
          <a:ext cx="603504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0080" y="598932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Setembro foi gerado com volume próximo do real (62 pedidos) — abril/maio têm só 15 pedidos de demonstração da estrutura.</a:t>
            </a:r>
            <a:endParaRPr lang="en-US" sz="1050" dirty="0"/>
          </a:p>
        </p:txBody>
      </p:sp>
      <p:sp>
        <p:nvSpPr>
          <p:cNvPr id="6" name="Text 3"/>
          <p:cNvSpPr txBox="1"/>
          <p:nvPr/>
        </p:nvSpPr>
        <p:spPr>
          <a:xfrm>
            <a:off x="6949440" y="1783080"/>
            <a:ext cx="45720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8.1 Faturamento por mês (gráfico ao lado)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8.2 Curva ABC de produtos mais vendidos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8.3 Margem por produto, calculada a partir da ficha técnica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8.6 Aproveitamento de corte por artesão/facção (RF15)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5.7 Comissão devida por vendedor e canal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9.1 Auditoria: pedido.vl_total bate com a soma dos itens?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9.4 Auditoria: todo produto é bolsa OU acessório — nunca os dois</a:t>
            </a:r>
            <a:endParaRPr lang="en-US" sz="1350" dirty="0"/>
          </a:p>
        </p:txBody>
      </p:sp>
      <p:sp>
        <p:nvSpPr>
          <p:cNvPr id="8" name="Text 1"/>
          <p:cNvSpPr/>
          <p:nvPr>
            <p:ph idx="103" type="body" hasCustomPrompt="1"/>
          </p:nvPr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D615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ESTÁ A MARGEM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Margem estimada por produto, direto da ficha técnica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783080"/>
          <a:ext cx="1088136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1"/>
          <p:cNvSpPr/>
          <p:nvPr>
            <p:ph idx="103" type="body" hasCustomPrompt="1"/>
          </p:nvPr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D615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E IA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dado operacional a decisão de gestão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411480" cy="411480"/>
          </a:xfrm>
          <a:prstGeom prst="ellipse">
            <a:avLst/>
          </a:prstGeom>
          <a:solidFill>
            <a:srgbClr val="B5472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234440" y="1709928"/>
            <a:ext cx="9875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Faturamento mensal
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SUM(vl_total) por mês, faturado/expedido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880360"/>
            <a:ext cx="411480" cy="411480"/>
          </a:xfrm>
          <a:prstGeom prst="ellipse">
            <a:avLst/>
          </a:prstGeom>
          <a:solidFill>
            <a:srgbClr val="3C5C4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234440" y="2807208"/>
            <a:ext cx="9875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Margem média por categoria
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vl_preco_base − custo de matéria-prima, agrupado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3977640"/>
            <a:ext cx="411480" cy="411480"/>
          </a:xfrm>
          <a:prstGeom prst="ellipse">
            <a:avLst/>
          </a:prstGeom>
          <a:solidFill>
            <a:srgbClr val="2D5A7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234440" y="3904488"/>
            <a:ext cx="9875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Comissão por vendedor/canal
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SUM(vl_total) × pc_comissao / 100, agrupado por vendedor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5074920"/>
            <a:ext cx="411480" cy="411480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234440" y="5001768"/>
            <a:ext cx="9875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Aging de contas a pagar/receber
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dias até o vencimento dos títulos ainda em aberto</a:t>
            </a:r>
            <a:endParaRPr lang="en-US" sz="1600" dirty="0"/>
          </a:p>
        </p:txBody>
      </p:sp>
      <p:sp>
        <p:nvSpPr>
          <p:cNvPr id="13" name="Text 1"/>
          <p:cNvSpPr/>
          <p:nvPr>
            <p:ph idx="103" type="body" hasCustomPrompt="1"/>
          </p:nvPr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D615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isso muda na prática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10312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0632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52044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compras, produção, vendas e financeiro num banco só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4572000" y="210312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</a:t>
            </a:r>
            <a:endParaRPr lang="en-US" sz="4800" dirty="0"/>
          </a:p>
        </p:txBody>
      </p:sp>
      <p:sp>
        <p:nvSpPr>
          <p:cNvPr id="7" name="Text 5"/>
          <p:cNvSpPr txBox="1"/>
          <p:nvPr/>
        </p:nvSpPr>
        <p:spPr>
          <a:xfrm>
            <a:off x="4572000" y="30632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pedidos rastreados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572000" y="352044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período de teste (abr–set/25)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8321040" y="210312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R$ 87 mil</a:t>
            </a:r>
            <a:endParaRPr lang="en-US" sz="4800" dirty="0"/>
          </a:p>
        </p:txBody>
      </p:sp>
      <p:sp>
        <p:nvSpPr>
          <p:cNvPr id="10" name="Text 8"/>
          <p:cNvSpPr txBox="1"/>
          <p:nvPr/>
        </p:nvSpPr>
        <p:spPr>
          <a:xfrm>
            <a:off x="8321040" y="30632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faturamento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321040" y="352044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somado automaticamente, sem conferir manualmente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" y="4846320"/>
            <a:ext cx="10515600" cy="0"/>
          </a:xfrm>
          <a:prstGeom prst="line">
            <a:avLst/>
          </a:prstGeom>
          <a:noFill/>
          <a:ln w="9525">
            <a:solidFill>
              <a:srgbClr val="6D615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5074920"/>
            <a:ext cx="10515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Rastreabilidade de insumo por fornecedor → compra baseada em dado, não em memória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real por peça (ficha técnica) → margem de verdade, não estimativa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de pedidos por cliente → saber quem são os clientes mais importantes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Perguntas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920240"/>
            <a:ext cx="10515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▪"/>
            </a:pPr>
            <a:r>
              <a:rPr 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Cadê ordem de produção, financeiro? — Foi exatamente o que o professor apontou (issue #1): adicionamos ORDEM_PRODUÇÃO, ETAPA_PRODUÇÃO, ARTESÃO_FACÇÃO, EXECUÇÃO_ETAPA, VENDEDOR, CONTAS_RECEBER e CONTAS_PAGAR.</a:t>
            </a:r>
            <a:endParaRPr lang="en-US" sz="1500" dirty="0"/>
          </a:p>
          <a:p>
            <a:pPr marL="342900" indent="-342900">
              <a:spcAft>
                <a:spcPts val="1800"/>
              </a:spcAft>
              <a:buSzPct val="100000"/>
              <a:buChar char="▪"/>
            </a:pPr>
            <a:r>
              <a:rPr 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 FK direta FORNECEDOR–INSUMO foi removida? — Contradizia a rastreabilidade por lote; um insumo pode vir de vários fornecedores (LOTE_INSUMO resolve isso).</a:t>
            </a:r>
            <a:endParaRPr lang="en-US" sz="1500" dirty="0"/>
          </a:p>
          <a:p>
            <a:pPr marL="342900" indent="-342900">
              <a:spcAft>
                <a:spcPts val="1800"/>
              </a:spcAft>
              <a:buSzPct val="100000"/>
              <a:buChar char="▪"/>
            </a:pPr>
            <a:r>
              <a:rPr 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 massa de dados é real? — Não: é fictícia por exigência da própria atividade (privacidade dos dados da empresa), mas testada em MySQL real, sem erros.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53949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Obrigado.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ntrasti">
  <a:themeElements>
    <a:clrScheme name="Contrasti">
      <a:dk1>
        <a:srgbClr val="2B1B12"/>
      </a:dk1>
      <a:lt1>
        <a:srgbClr val="FFFFFF"/>
      </a:lt1>
      <a:dk2>
        <a:srgbClr val="3B2415"/>
      </a:dk2>
      <a:lt2>
        <a:srgbClr val="E8DCC8"/>
      </a:lt2>
      <a:accent1>
        <a:srgbClr val="B5472B"/>
      </a:accent1>
      <a:accent2>
        <a:srgbClr val="C89B3C"/>
      </a:accent2>
      <a:accent3>
        <a:srgbClr val="2D5A73"/>
      </a:accent3>
      <a:accent4>
        <a:srgbClr val="3C5C44"/>
      </a:accent4>
      <a:accent5>
        <a:srgbClr val="6D6155"/>
      </a:accent5>
      <a:accent6>
        <a:srgbClr val="9C2B1F"/>
      </a:accent6>
      <a:hlink>
        <a:srgbClr val="B5472B"/>
      </a:hlink>
      <a:folHlink>
        <a:srgbClr val="8A3620"/>
      </a:folHlink>
    </a:clrScheme>
    <a:fontScheme name="Contrasti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UNICID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Contrasti Bolsas e Acessorios - Apresentacao Corporativa</dc:title>
  <dc:subject>PptxGenJS Presentation</dc:subject>
  <dc:creator>Grupo Contrasti</dc:creator>
  <cp:lastModifiedBy>Grupo Contrasti</cp:lastModifiedBy>
  <cp:revision>1</cp:revision>
  <dcterms:created xsi:type="dcterms:W3CDTF">2026-10-15T19:45:32Z</dcterms:created>
  <dcterms:modified xsi:type="dcterms:W3CDTF">2026-10-15T19:45:32Z</dcterms:modified>
</cp:coreProperties>
</file>