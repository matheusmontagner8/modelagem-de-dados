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8cae2e6-2166-9c9e-7d4f-28de166f1e66}">
          <p14:sldIdLst>
            <p14:sldId id="256"/>
          </p14:sldIdLst>
        </p14:section>
        <p14:section name="Problema e Solucao" id="{8a6accb7-f4b9-b62b-923f-9410bdbd6379}">
          <p14:sldIdLst>
            <p14:sldId id="257"/>
            <p14:sldId id="258"/>
            <p14:sldId id="259"/>
          </p14:sldIdLst>
        </p14:section>
        <p14:section name="Modelo e Implementacao" id="{58989bc0-4d0e-1a30-a046-27bd0315cd78}">
          <p14:sldIdLst>
            <p14:sldId id="260"/>
            <p14:sldId id="261"/>
            <p14:sldId id="262"/>
            <p14:sldId id="263"/>
          </p14:sldIdLst>
        </p14:section>
        <p14:section name="Valor e Proximos Passos" id="{8425a323-62d3-e977-dac4-58ab7c8cd848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Faturamento (R$)</c:v>
                </c:pt>
              </c:strCache>
            </c:strRef>
          </c:tx>
          <c:spPr>
            <a:solidFill>
              <a:srgbClr val="B5472B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Abr/25</c:v>
                  </c:pt>
                  <c:pt idx="1">
                    <c:v>Mai/25</c:v>
                  </c:pt>
                  <c:pt idx="2">
                    <c:v>Set/25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9770</c:v>
                </c:pt>
                <c:pt idx="1">
                  <c:v>4750</c:v>
                </c:pt>
                <c:pt idx="2">
                  <c:v>72536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(R$)</c:v>
                </c:pt>
              </c:strCache>
            </c:strRef>
          </c:tx>
          <c:spPr>
            <a:solidFill>
              <a:srgbClr val="3C5C44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Tote Preta</c:v>
                  </c:pt>
                  <c:pt idx="1">
                    <c:v>Tote Caramelo</c:v>
                  </c:pt>
                  <c:pt idx="2">
                    <c:v>Mini Café</c:v>
                  </c:pt>
                  <c:pt idx="3">
                    <c:v>Transversal</c:v>
                  </c:pt>
                  <c:pt idx="4">
                    <c:v>Shopper</c:v>
                  </c:pt>
                  <c:pt idx="5">
                    <c:v>Carteira</c:v>
                  </c:pt>
                  <c:pt idx="6">
                    <c:v>Cinto</c:v>
                  </c:pt>
                  <c:pt idx="7">
                    <c:v>Porta-Cartões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311.4</c:v>
                </c:pt>
                <c:pt idx="1">
                  <c:v>305.4</c:v>
                </c:pt>
                <c:pt idx="2">
                  <c:v>279.8</c:v>
                </c:pt>
                <c:pt idx="3">
                  <c:v>207.75</c:v>
                </c:pt>
                <c:pt idx="4">
                  <c:v>169.05</c:v>
                </c:pt>
                <c:pt idx="5">
                  <c:v>83.2</c:v>
                </c:pt>
                <c:pt idx="6">
                  <c:v>65.9</c:v>
                </c:pt>
                <c:pt idx="7">
                  <c:v>59.3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grupo rapidamente e contextualizar: esta e a Entrega 2 da disciplina, dando continuidade ao DER e ao dicionario de dados apresentados na Entrega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 a empresa real visitada pelo grupo. Mostrar as fotos da visita. Ligar a dor (controle manual) ao volume real de pedidos (50-70/mes) para justificar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DER completo (17 entidades, notacao de Chen). Explicar o fluxo macro Compras-&gt;Producao-&gt;Vendas-&gt;Financeiro. Mencionar que esta e a versao corrigida apos a avaliacao formal do professor (issue #1).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da defesa: mostrar lado a lado o que o professor apontou na issue #1 e a correcao aplicada. Se tiver tempo, rodar ao vivo a consulta 5.4 do script.sql para mostrar o resultado da ultima linha (dois fornecedores).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Defender as decisoes de conversao: ficha_tecnica tem chave propria (nao mais FK composta); insumo nao tem mais FK direta para fornecedor, porque lote_insumo registra a origem de cada recebimento.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8 tabelas que respondem diretamente a avaliacao do professor: ordem de producao com suas etapas e artesaos/faccoes (producao), e contas a receber/pagar (financeiro) - nenhuma existia na versao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script.sql do zero em um MySQL de verdade. Mostrar as constraints no CREATE TABLE (lado direito e so um exemplo no slide), carregar a massa de dados e rodar o primeiro SELECT com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ao vivo: 8.1 (grafico ja mostra o resultado esperado), 8.2, 8.3 e, principalmente, 9.4 - mostrar que vem vazia, provando que a regra Total e Disjunta da especializacao esta sendo respeitada pelos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Margem = preco_base - custo de materia-prima (soma de quantidade_necessaria x preco_unitario na ficha tecnica). As duas bolsas tote lideram em margem absoluta; porta-cartoes tem a menor margem por peca.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item_pedido funciona como tabela de fatos (uma linha por venda) e cliente/produto/insumo/fornecedor como dimensoes - ja parece um esquema estrela simplificado, direto para uma ferramenta de 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ligando de volta ao problema do slide 2. Os numeros vem direto do script.sql rodado nesta sessao (dados fictícios, mas a estrutura e as consultas sao as mesmas que rodarao com dados reais).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 rodada de perguntas do professor e da turma, com as respostas ja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&amp; ACESSORIOS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· Entrega 2</a:t>
            </a:r>
            <a:endParaRPr lang="en-US" sz="9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CORPORATIVA FINAL · ENTREGA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Contrasti Bolsas &amp; Acessórios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de Banco de Dados — Modelo Lógico, Implementação SQL e Resultados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0" cy="141732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5720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da Silva Ferreira Batista · 47302518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Petrucelli Domingos · 47270161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Jaime Luiz de Oliveira Neto · 47336951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Montagner · 47209470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Marques de Melo · 47213426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UNICID · Modelagem de Banco de Dados · Prof. Cid Rodrigues de Andrade · (data da apresentação a definir)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operação real, com controle manual e descentralizado</a:t>
            </a:r>
            <a:endParaRPr lang="en-US" sz="3000" dirty="0"/>
          </a:p>
        </p:txBody>
      </p:sp>
      <p:pic>
        <p:nvPicPr>
          <p:cNvPr id="4" name="Image 0" descr="C:\Rhema\Matheus\Modelagem-de-Dados\evidencias\06-facha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83080"/>
            <a:ext cx="4434840" cy="3246120"/>
          </a:xfrm>
          <a:prstGeom prst="rect">
            <a:avLst/>
          </a:prstGeom>
        </p:spPr>
      </p:pic>
      <p:pic>
        <p:nvPicPr>
          <p:cNvPr id="5" name="Image 1" descr="C:\Rhema\Matheus\Modelagem-de-Dados\evidencias\01-bancada-produca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5120640"/>
            <a:ext cx="4434840" cy="1234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1783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e Acessórios Ltda — Rua Alpiste, 116, Jd. Eliane, São Paulo/SP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2860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 e comércio de bolsas e acessórios de couro, produção própria + múltiplos canais de venda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de insumos (couro, ferragens, zíperes) sem rastreabilidade por fornecedor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cada peça calculado “no olho”, sem ficha técnica padronizada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produção e financeiro sem integração entre si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498348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E8DCC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51206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pedidos por mês em operação normal, com picos no Dia das Mães e no Natal — volume que já justifica um banco de dados em vez de planilhas soltas.</a:t>
            </a:r>
            <a:endParaRPr lang="en-US" sz="2800" dirty="0"/>
          </a:p>
        </p:txBody>
      </p:sp>
      <p:sp>
        <p:nvSpPr>
          <p:cNvPr id="11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banco de dados relacional, do fornecedor ao cliente</a:t>
            </a:r>
            <a:endParaRPr lang="en-US" sz="3000" dirty="0"/>
          </a:p>
        </p:txBody>
      </p:sp>
      <p:pic>
        <p:nvPicPr>
          <p:cNvPr id="4" name="Image 0" descr="C:\Rhema\Matheus\Modelagem-de-Dados\Diagrama\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1088" y="1691640"/>
            <a:ext cx="7589520" cy="5346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221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758707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entidades, 16 relacionamentos — versão corrigida após a avaliação do professor: cardinalidade mínima e máxima em toda relação, nenhuma FK no diagrama, e ordem de produção/financeiro agora modelados.</a:t>
            </a:r>
            <a:endParaRPr lang="en-US" sz="11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APLICADA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professor apontou — e como foi corrigido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3200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Apontação do professor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só mostrava cardinalidade máxima (1/N)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as 16 relações mostram mínimo,máximo nas duas pontas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aparecia dentro das entidades (inclusive como PK composta em FICHA_TÉCNICA)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FK no DER; ficha_tecnica ganhou chave própria (id_ficha)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ORDEM_PRODUÇÃO ausente, apesar de já estar nos requisitos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 adicionada, com ETAPA_PRODUÇÃO, ARTESÃO_FACÇÃO e EXECUÇÃO_ETAPA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FORNECEDOR–INSUMO (1,1) contradizia a rastreabilidade por lote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LOTE_INSUMO: um insumo pode vir de vários fornecedores ao longo do tempo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8DCC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03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Evidência nos dados: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a Bolsa Tote Caramelo usa couro recebido de dois fornecedores diferentes (Curtume Vaqueta Ouro e Curtume Linhares Couros) — exatamente o cenário que a FK direta antiga não conseguia representar.</a:t>
            </a:r>
            <a:endParaRPr lang="en-US" sz="13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MODELO LÓGICO (1/2)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de compras e vendas — 9 tabelas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primária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Chave(s) estrangeira(s)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(sem FK direta; ver lote_insumo)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id_lote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insumo_id → insumo; fornecedor_id → fornecedor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bolsa / acessorio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(= PK de produto)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ficha_tecnica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id_ficha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produto_id → produto; insumo_id → 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cliente_id → cliente; vendedor_id → 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id_item_pedido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pedido_id → pedido; produto_id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MODELO LÓGICO (2/2)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 financeiro — 8 tabelas novas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9776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394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primária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Chave(s) estrangeira(s)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ordem_producao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produto_id →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etapa_producao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(tabela de domínio)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artesao_faccao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id_artesao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execucao_etapa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id_execucao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op_id → ordem_producao; etapa_id → etapa_producao; artesao_id → artesao_faccao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id_vendedor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contas_receber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id_titulo_receber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pedido_id → pedido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contas_pagar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id_titulo_pagar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lote_id → lote_insumo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E8DCC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pedido.vl_total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e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insumo.qt_estoque_atual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são denormalizações controladas, vigiadas por UPDATE explícito e auditoria (9.1) — não são erro de 3FN.</a:t>
            </a:r>
            <a:endParaRPr lang="en-US" sz="12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rodando do zero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603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DATABASE + CREATE TABLE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17 tabelas, com PK, FK, CHECK e ON DELETE CASCADE — banco vazio ao vivo, sem erro.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0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Massa de dados carregando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77 pedidos / 128 itens / 56 execuções de etapa / 17 tabelas populadas em segundos.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480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SELECT com JOIN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Rastreabilidade: produto + insumo + lote + fornecedor, juntando 4 tabelas.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5486400" cy="4526280"/>
          </a:xfrm>
          <a:prstGeom prst="roundRect">
            <a:avLst>
              <a:gd name="adj" fmla="val 1212"/>
            </a:avLst>
          </a:prstGeom>
          <a:solidFill>
            <a:srgbClr val="2B1B1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20116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lote_insumo 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id_lote       INT UNSIGNED AUTO_INCREMENT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PRIMARY KEY,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insumo_id     INT UNSIGNED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fornecedor_id INT UNSIGNED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nr_lote       VARCHAR(30)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qt_recebida   DECIMAL(10,3)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vl_preco_pago DECIMAL(10,2)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fk_lote_insumo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(insumo_id)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REFERENCES insumo(id_insumo),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fk_lote_fornecedor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(fornecedor_id)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REFERENCES fornecedor(id_fornecedor)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1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Faturamento por mês — abril a setembro/2025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893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foi gerado com volume próximo do real (62 pedidos) — abril/maio têm só 15 pedidos de demonstração da estrutura.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1783080"/>
            <a:ext cx="4572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Faturamento por mês (gráfico ao lado)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Curva ABC de produtos mais vendidos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Margem por produto, calculada a partir da ficha técnica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 Aproveitamento de corte por artesão/facção (RF15)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 Comissão devida por vendedor e canal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Auditoria: pedido.vl_total bate com a soma dos itens?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Auditoria: todo produto é bolsa OU acessório — nunca os dois</a:t>
            </a:r>
            <a:endParaRPr lang="en-US" sz="135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MARGEM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Margem estimada por produto, direto da ficha técnica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10881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E 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dado operacional a decisão de gestão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" cy="411480"/>
          </a:xfrm>
          <a:prstGeom prst="ellipse">
            <a:avLst/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1709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Faturamento mensal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SUM(vl_total) por mês, faturado/expedido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rgbClr val="3C5C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80720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Margem média por categoria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vl_preco_base − custo de matéria-prima, agrupado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D5A7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90448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Comissão por vendedor/canal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SUM(vl_total) × pc_comissao / 100, agrupado por vendedor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074920"/>
            <a:ext cx="411480" cy="4114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500176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Aging de contas a pagar/receber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dias até o vencimento dos títulos ainda em aberto</a:t>
            </a:r>
            <a:endParaRPr lang="en-US" sz="1600" dirty="0"/>
          </a:p>
        </p:txBody>
      </p:sp>
      <p:sp>
        <p:nvSpPr>
          <p:cNvPr id="13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muda na prática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produção, vendas e financeiro num banco só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rastreados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período de teste (abr–set/25)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R$ 87 mil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somado automaticamente, sem conferir manualmente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9525">
            <a:solidFill>
              <a:srgbClr val="6D6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7492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insumo por fornecedor → compra baseada em dado, não em memória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por peça (ficha técnica) → margem de verdade, não estimativa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pedidos por cliente → saber quem são os clientes mais importantes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Cadê ordem de produção, financeiro? — Foi exatamente o que o professor apontou (issue #1): adicionamos ORDEM_PRODUÇÃO, ETAPA_PRODUÇÃO, ARTESÃO_FACÇÃO, EXECUÇÃO_ETAPA, VENDEDOR, CONTAS_RECEBER e CONTAS_PAGAR.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FK direta FORNECEDOR–INSUMO foi removida? — Contradizia a rastreabilidade por lote; um insumo pode vir de vários fornecedores (LOTE_INSUMO resolve isso).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massa de dados é real? — Não: é fictícia por exigência da própria atividade (privacidade dos dados da empresa), mas testada em MySQL real, sem erros.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94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rasti">
  <a:themeElements>
    <a:clrScheme name="Contrasti">
      <a:dk1>
        <a:srgbClr val="2B1B12"/>
      </a:dk1>
      <a:lt1>
        <a:srgbClr val="FFFFFF"/>
      </a:lt1>
      <a:dk2>
        <a:srgbClr val="3B2415"/>
      </a:dk2>
      <a:lt2>
        <a:srgbClr val="E8DCC8"/>
      </a:lt2>
      <a:accent1>
        <a:srgbClr val="B5472B"/>
      </a:accent1>
      <a:accent2>
        <a:srgbClr val="C89B3C"/>
      </a:accent2>
      <a:accent3>
        <a:srgbClr val="2D5A73"/>
      </a:accent3>
      <a:accent4>
        <a:srgbClr val="3C5C44"/>
      </a:accent4>
      <a:accent5>
        <a:srgbClr val="6D6155"/>
      </a:accent5>
      <a:accent6>
        <a:srgbClr val="9C2B1F"/>
      </a:accent6>
      <a:hlink>
        <a:srgbClr val="B5472B"/>
      </a:hlink>
      <a:folHlink>
        <a:srgbClr val="8A3620"/>
      </a:folHlink>
    </a:clrScheme>
    <a:fontScheme name="Contrast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UNICID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Contrasti Bolsas e Acessorios - Apresentacao Corporativa</dc:title>
  <dc:subject>PptxGenJS Presentation</dc:subject>
  <dc:creator>Grupo Contrasti</dc:creator>
  <cp:lastModifiedBy>Grupo Contrasti</cp:lastModifiedBy>
  <cp:revision>1</cp:revision>
  <dcterms:created xsi:type="dcterms:W3CDTF">2026-10-15T19:23:58Z</dcterms:created>
  <dcterms:modified xsi:type="dcterms:W3CDTF">2026-10-15T19:23:58Z</dcterms:modified>
</cp:coreProperties>
</file>